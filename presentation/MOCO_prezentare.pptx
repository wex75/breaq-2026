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4F5FA"/>
                </a:solidFill>
                <a:latin typeface="Calibri"/>
              </a:defRPr>
            </a:pPr>
            <a:r>
              <a:rPr lang="fr-FR" sz="1400" b="0" i="0" u="none" strike="noStrike">
                <a:solidFill>
                  <a:srgbClr val="F4F5FA"/>
                </a:solidFill>
                <a:latin typeface="Calibri"/>
              </a:rPr>
              <a:t>AUPRC după nivelul de zgomot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(kit)</c:v>
                </c:pt>
              </c:strCache>
            </c:strRef>
          </c:tx>
          <c:spPr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4F5FA"/>
                    </a:solidFill>
                    <a:latin typeface="Calibri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0,1%</c:v>
                </c:pt>
                <c:pt idx="2">
                  <c:v>1%</c:v>
                </c:pt>
                <c:pt idx="3">
                  <c:v>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0.57999999999999996</c:v>
                </c:pt>
                <c:pt idx="1">
                  <c:v>0.57999999999999996</c:v>
                </c:pt>
                <c:pt idx="2">
                  <c:v>0.56399999999999995</c:v>
                </c:pt>
                <c:pt idx="3">
                  <c:v>0.40500000000000003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06-496A-A700-B1C76240016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8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3"/>
        </c:scaling>
        <c:delete val="0"/>
        <c:axPos val="l"/>
        <c:majorGridlines>
          <c:spPr>
            <a:ln w="6350" cap="flat">
              <a:solidFill>
                <a:srgbClr val="2A2E4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3A8C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0D0F1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D0F1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4F5F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F4F5FA"/>
                </a:solidFill>
                <a:latin typeface="Calibri"/>
              </a:rPr>
              <a:t>AUPRC după nivelul de zgomot (5 seed-uri, test)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MOCO</c:v>
                </c:pt>
              </c:strCache>
            </c:strRef>
          </c:tx>
          <c:spPr>
            <a:ln w="38100" cap="flat">
              <a:solidFill>
                <a:srgbClr val="FFB547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B547"/>
              </a:solidFill>
              <a:ln w="9525" cap="flat">
                <a:solidFill>
                  <a:srgbClr val="FFB547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0,1%</c:v>
                </c:pt>
                <c:pt idx="2">
                  <c:v>1%</c:v>
                </c:pt>
                <c:pt idx="3">
                  <c:v>5%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0.71599999999999997</c:v>
                </c:pt>
                <c:pt idx="1">
                  <c:v>0.71599999999999997</c:v>
                </c:pt>
                <c:pt idx="2">
                  <c:v>0.71599999999999997</c:v>
                </c:pt>
                <c:pt idx="3">
                  <c:v>0.71599999999999997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02-4B0E-B3B5-9E82E03E40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regresie logistică clasică</c:v>
                </c:pt>
              </c:strCache>
            </c:strRef>
          </c:tx>
          <c:spPr>
            <a:ln w="38100" cap="flat">
              <a:solidFill>
                <a:srgbClr val="A3A8C3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A3A8C3"/>
              </a:solidFill>
              <a:ln w="9525" cap="flat">
                <a:solidFill>
                  <a:srgbClr val="A3A8C3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0,1%</c:v>
                </c:pt>
                <c:pt idx="2">
                  <c:v>1%</c:v>
                </c:pt>
                <c:pt idx="3">
                  <c:v>5%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0.71</c:v>
                </c:pt>
                <c:pt idx="1">
                  <c:v>0.71</c:v>
                </c:pt>
                <c:pt idx="2">
                  <c:v>0.71</c:v>
                </c:pt>
                <c:pt idx="3">
                  <c:v>0.71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02-4B0E-B3B5-9E82E03E40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soluția standard</c:v>
                </c:pt>
              </c:strCache>
            </c:strRef>
          </c:tx>
          <c:spPr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0,1%</c:v>
                </c:pt>
                <c:pt idx="2">
                  <c:v>1%</c:v>
                </c:pt>
                <c:pt idx="3">
                  <c:v>5%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0.57999999999999996</c:v>
                </c:pt>
                <c:pt idx="1">
                  <c:v>0.57999999999999996</c:v>
                </c:pt>
                <c:pt idx="2">
                  <c:v>0.56399999999999995</c:v>
                </c:pt>
                <c:pt idx="3">
                  <c:v>0.40500000000000003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E02-4B0E-B3B5-9E82E03E4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3A8C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3"/>
        </c:scaling>
        <c:delete val="0"/>
        <c:axPos val="l"/>
        <c:majorGridlines>
          <c:spPr>
            <a:ln w="6350" cap="flat">
              <a:solidFill>
                <a:srgbClr val="2A2E4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3A8C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0D0F1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4F5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0F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90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GEORGIANA (0:15). În 2024, fraudele la plăți au costat Europa 4,2 miliarde de euro. Calculatoarele cuantice promit să ajute, dar ca să antrenezi clasificatorul cuantic standard îți trebuie aproape 3 milioane de rulări, pe un hardware care greșește. [click] Noi am făcut-o cu 6.490. Suntem Darius Tatomir și Deliu Georgiana, iar asta e MOCO.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GEORGIANA (0:40). Cine e afectat: băncile și clienții lor. Problema are trei părți. Fraudele sunt rare: doar 0,17% din tranzacții, așa că acuratețea minte, iar un model care nu prinde nicio fraudă are 99,83%. De aceea măsurăm AUPRC, adică cât de sus ajung fraudele în clasament. Iar hardware-ul cuantic de azi greșește: protocolul pune până la 5% eroare după fiecare poartă, și fiecare rulare costă timp și bani. Întrebarea noastră: cât de ieftin poate fi un clasificator cuantic care rezistă la zgomot?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GEORGIANA (0:45). Soluția standard din kit e un circuit cu 33 de porți CNOT și 32 de parametri. Gradientul se ia din circuit: 65 de rulări pentru fiecare exemplu, 30 de epoci, plus validare. Aproape 2,9 milioane de rulări. Și e fragil: la 5% zgomot, AUPRC scade de la 0,58 la 0,41, pentru că zgomotul trece prin CNOT-uri de la un qubit la altul și amestecă ordinea scorurilor.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GEORGIANA (0:20). În Task 1 am văzut două lucruri: zgomotul depolarizant doar scalează măsurarea, iar o scalare a scorurilor nu schimbă clasamentul, deci nici AUPRC. De aici ideea: un circuit în care zgomotul poate doar să scaleze. Darius vă arată cum.
DARIUS (0:30). MOCO: patru qubiți izolați, fără nicio poartă CNOT. Fiecare primește un unghi din tranzacție și o rotație învățată. Fără CNOT, ieșirea circuitului e o formulă liniară din două măsurători pe qubit. Așa că: [click] măsurăm fiecare tranzacție de antrenare o singură dată, [click] învățăm convex pe laptop, fără nicio rulare, [click] și compilăm rezultatul înapoi în unghiurile porților. Decizia o ia circuitul.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DARIUS (0:45). O fraudă reală din setul de validare. Fără zgomot, circuitul îi dă scorul 0,509, peste pragul 0,451: fraudă. [click] La 1% zgomot, scorul și pragul se mișcă amândouă spre 0,5. Tot fraudă. [click] La 5%: 0,508 față de 0,457. Tot fraudă. [click] Asta e teorema noastră: fără porți pe doi qubiți, zgomotul înmulțește fiecare scor cu același factor, lambda pătrat. Clasamentul rămâne identic la orice nivel de zgomot, iar pragul se mută cu o formulă, exact pe valoarea pe care o alege protocolul.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DARIUS (0:50). Pe 5 seed-uri, după protocolul oficial: MOCO, linia portocalie, rămâne la 0,716 la orice zgomot. Soluția standard cade la 0,41. Și suntem cinstiți: egalăm regresia logistică clasică pe aceleași intrări, linia gri, nu o batem. [click] Costul: 6.490 de rulări în loc de 2.859.360. Minus 99,77%, de 440 de ori mai puțin, iar ținta noastră era 98%. [click] AUPRC 0,716 la orice zgomot. [click] Iar pe hardware, unde fiecare măsurare costă shot-uri, triajul adaptiv decide tranzacțiile clare din câteva shot-uri, cu garanție statistică: 208 în loc de 1.024, la același F1, fără nicio decizie greșită. Concret: prindem 81 din 98 de fraude, cu 23 de alarme false la 57.000 de tranzacții.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DARIUS (0:20). Am adus trei idei noi: [click] antrenarea fără circuit în buclă, [click] o garanție matematică la zgomot, [click] și shot-uri cheltuite doar unde trebuie.
GEORGIANA (0:25). [click] Nu pretindem avantaj cuantic: egalăm regresia logistică pe aceleași intrări, dar cu garanție la zgomot și de 440 de ori mai puține rulări. Măsori o dată, compilezi o dată, iar zgomotul doar scalează. Codul, testele și lucrarea sunt pe GitHub, la codul QR. Vă mulțumim!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CO">
    <p:bg>
      <p:bgPr>
        <a:solidFill>
          <a:srgbClr val="0D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BreaQ 2026  ·  MOCO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BreaQ 2026  ·  Quantum AI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Once, Compile Once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146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Detectăm fraude pe un calculator cuantic zgomotos, cu de 440 de ori mai puține rulări.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Darius Tatomir  ·  Deliu Georgiana</a:t>
            </a:r>
            <a:endParaRPr lang="en-US" sz="1600" dirty="0"/>
          </a:p>
        </p:txBody>
      </p:sp>
      <p:sp>
        <p:nvSpPr>
          <p:cNvPr id="7" name="old_card"/>
          <p:cNvSpPr/>
          <p:nvPr/>
        </p:nvSpPr>
        <p:spPr>
          <a:xfrm>
            <a:off x="5394960" y="91440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8" name="old_num"/>
          <p:cNvSpPr txBox="1"/>
          <p:nvPr/>
        </p:nvSpPr>
        <p:spPr>
          <a:xfrm>
            <a:off x="5669280" y="10972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strike="sngStrike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2.859.360</a:t>
            </a:r>
            <a:endParaRPr lang="en-US" sz="3600" dirty="0"/>
          </a:p>
        </p:txBody>
      </p:sp>
      <p:sp>
        <p:nvSpPr>
          <p:cNvPr id="9" name="old_lbl"/>
          <p:cNvSpPr txBox="1"/>
          <p:nvPr/>
        </p:nvSpPr>
        <p:spPr>
          <a:xfrm>
            <a:off x="566928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rulări: soluția standard</a:t>
            </a:r>
            <a:endParaRPr lang="en-US" sz="1500" dirty="0"/>
          </a:p>
        </p:txBody>
      </p:sp>
      <p:sp>
        <p:nvSpPr>
          <p:cNvPr id="10" name="new_card"/>
          <p:cNvSpPr/>
          <p:nvPr/>
        </p:nvSpPr>
        <p:spPr>
          <a:xfrm>
            <a:off x="5394960" y="251460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22264A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11" name="new_num"/>
          <p:cNvSpPr txBox="1"/>
          <p:nvPr/>
        </p:nvSpPr>
        <p:spPr>
          <a:xfrm>
            <a:off x="5669280" y="26974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6.490</a:t>
            </a:r>
            <a:endParaRPr lang="en-US" sz="4000" dirty="0"/>
          </a:p>
        </p:txBody>
      </p:sp>
      <p:sp>
        <p:nvSpPr>
          <p:cNvPr id="12" name="new_lbl"/>
          <p:cNvSpPr txBox="1"/>
          <p:nvPr/>
        </p:nvSpPr>
        <p:spPr>
          <a:xfrm>
            <a:off x="566928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rulări cu MOCO, la orice zgomot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de miliarde și un hardware cuantic zgomotos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566928" cy="566928"/>
          </a:xfrm>
          <a:prstGeom prst="ellipse">
            <a:avLst/>
          </a:prstGeom>
          <a:solidFill>
            <a:srgbClr val="22264A"/>
          </a:solidFill>
          <a:ln w="12700">
            <a:solidFill>
              <a:srgbClr val="2226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5087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84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 mld. €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2491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la plăți în Spațiul Economic European, în 2024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Sursa: BCE și ABE, raportul din 2025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3552" y="114300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47872" y="1371600"/>
            <a:ext cx="566928" cy="566928"/>
          </a:xfrm>
          <a:prstGeom prst="ellipse">
            <a:avLst/>
          </a:prstGeom>
          <a:solidFill>
            <a:srgbClr val="22264A"/>
          </a:solidFill>
          <a:ln w="12700">
            <a:solidFill>
              <a:srgbClr val="22264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32" y="15087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7872" y="2084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0,17%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72491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tranzacții sunt fraude: un model care nu prinde nimic are 99,83% acuratețe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aceea măsurăm AUPRC, nu acuratețea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9904" y="1143000"/>
            <a:ext cx="2606040" cy="2880360"/>
          </a:xfrm>
          <a:prstGeom prst="roundRect">
            <a:avLst>
              <a:gd name="adj" fmla="val 4211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64224" y="1371600"/>
            <a:ext cx="566928" cy="566928"/>
          </a:xfrm>
          <a:prstGeom prst="ellipse">
            <a:avLst/>
          </a:prstGeom>
          <a:solidFill>
            <a:srgbClr val="22264A"/>
          </a:solidFill>
          <a:ln w="12700">
            <a:solidFill>
              <a:srgbClr val="22264A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384" y="150876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4224" y="208483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până la 5%</a:t>
            </a:r>
            <a:endParaRPr lang="en-US" sz="3200" dirty="0"/>
          </a:p>
        </p:txBody>
      </p:sp>
      <p:sp>
        <p:nvSpPr>
          <p:cNvPr id="19" name="Text 14"/>
          <p:cNvSpPr txBox="1"/>
          <p:nvPr/>
        </p:nvSpPr>
        <p:spPr>
          <a:xfrm>
            <a:off x="6364224" y="272491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eroare după fiecare poartă cuantică, iar fiecare rulare pe hardware costă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64224" y="3566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Protocolul oficial: zgomot depolarizant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Cât de ieftin poate fi un clasificator cuantic care rezistă la zgomot?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 standard e scumpă și fragilă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2,86 mil.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rulări ca să antrenezi circuitul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de rulări pe exemplu (gradient)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 epoci, plus validare la fiecare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de porți CNOT leagă qubiții între ei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297680" y="1051560"/>
          <a:ext cx="4389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343400" y="3840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Zgomotul trece prin CNOT-uri și amestecă ordinea scorurilor.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MOCO scoate circuitul din bucla de antrenare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22264A"/>
          </a:solidFill>
          <a:ln w="12700">
            <a:solidFill>
              <a:srgbClr val="2226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Task 1:  </a:t>
            </a:r>
            <a:r>
              <a:rPr lang="en-US" sz="14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zgomotul doar scalează scorurile, iar scalarea nu schimbă clasamentul. Deci: fără CNOT.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3429000" cy="0"/>
          </a:xfrm>
          <a:prstGeom prst="line">
            <a:avLst/>
          </a:prstGeom>
          <a:noFill/>
          <a:ln w="15875">
            <a:solidFill>
              <a:srgbClr val="A3A8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7335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164592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645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RY(x1)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164592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645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Rot(θ1)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164592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22264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377440"/>
            <a:ext cx="3429000" cy="0"/>
          </a:xfrm>
          <a:prstGeom prst="line">
            <a:avLst/>
          </a:prstGeom>
          <a:noFill/>
          <a:ln w="15875">
            <a:solidFill>
              <a:srgbClr val="A3A8C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22199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34440" y="219456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21945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RY(x2)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19456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14600" y="21945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Rot(θ2)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219456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22264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40480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2926080"/>
            <a:ext cx="3429000" cy="0"/>
          </a:xfrm>
          <a:prstGeom prst="line">
            <a:avLst/>
          </a:prstGeom>
          <a:noFill/>
          <a:ln w="15875">
            <a:solidFill>
              <a:srgbClr val="A3A8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77063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234440" y="27432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34440" y="274320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RY(x3)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27432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514600" y="27432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Rot(θ3)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0" y="274320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22264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404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3474720"/>
            <a:ext cx="3429000" cy="0"/>
          </a:xfrm>
          <a:prstGeom prst="line">
            <a:avLst/>
          </a:prstGeom>
          <a:noFill/>
          <a:ln w="15875">
            <a:solidFill>
              <a:srgbClr val="A3A8C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31927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234440" y="329184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8F7CFF"/>
          </a:solidFill>
          <a:ln w="12700">
            <a:solidFill>
              <a:srgbClr val="8F7C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234440" y="3291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RY(x4)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514600" y="329184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14600" y="32918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Rot(θ4)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840480" y="329184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22264A"/>
          </a:solidFill>
          <a:ln w="12700">
            <a:solidFill>
              <a:srgbClr val="F4F5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4048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931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qubiți  ·  8 porți  ·  0 CNOT  ·  adâncime 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224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93 porți, 33 CNOT, adâncime 45</a:t>
            </a:r>
            <a:endParaRPr lang="en-US" sz="1200" dirty="0"/>
          </a:p>
        </p:txBody>
      </p:sp>
      <p:sp>
        <p:nvSpPr>
          <p:cNvPr id="39" name="step0_card"/>
          <p:cNvSpPr/>
          <p:nvPr/>
        </p:nvSpPr>
        <p:spPr>
          <a:xfrm>
            <a:off x="4800600" y="1691640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40" name="step0_dot"/>
          <p:cNvSpPr/>
          <p:nvPr/>
        </p:nvSpPr>
        <p:spPr>
          <a:xfrm>
            <a:off x="4956048" y="1847088"/>
            <a:ext cx="420624" cy="420624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41" name="step0_num"/>
          <p:cNvSpPr txBox="1"/>
          <p:nvPr/>
        </p:nvSpPr>
        <p:spPr>
          <a:xfrm>
            <a:off x="495604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step0_h"/>
          <p:cNvSpPr txBox="1"/>
          <p:nvPr/>
        </p:nvSpPr>
        <p:spPr>
          <a:xfrm>
            <a:off x="5532120" y="17830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Măsori o dată</a:t>
            </a:r>
            <a:endParaRPr lang="en-US" sz="1600" dirty="0"/>
          </a:p>
        </p:txBody>
      </p:sp>
      <p:sp>
        <p:nvSpPr>
          <p:cNvPr id="43" name="step0_d"/>
          <p:cNvSpPr txBox="1"/>
          <p:nvPr/>
        </p:nvSpPr>
        <p:spPr>
          <a:xfrm>
            <a:off x="553212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rulări pe tranzacție de antrenare</a:t>
            </a:r>
            <a:endParaRPr lang="en-US" sz="1300" dirty="0"/>
          </a:p>
        </p:txBody>
      </p:sp>
      <p:sp>
        <p:nvSpPr>
          <p:cNvPr id="44" name="step1_card"/>
          <p:cNvSpPr/>
          <p:nvPr/>
        </p:nvSpPr>
        <p:spPr>
          <a:xfrm>
            <a:off x="4800600" y="2560320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45" name="step1_dot"/>
          <p:cNvSpPr/>
          <p:nvPr/>
        </p:nvSpPr>
        <p:spPr>
          <a:xfrm>
            <a:off x="4956048" y="2715768"/>
            <a:ext cx="420624" cy="420624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46" name="step1_num"/>
          <p:cNvSpPr txBox="1"/>
          <p:nvPr/>
        </p:nvSpPr>
        <p:spPr>
          <a:xfrm>
            <a:off x="4956048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step1_h"/>
          <p:cNvSpPr txBox="1"/>
          <p:nvPr/>
        </p:nvSpPr>
        <p:spPr>
          <a:xfrm>
            <a:off x="5532120" y="26517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Înveți pe laptop</a:t>
            </a:r>
            <a:endParaRPr lang="en-US" sz="1600" dirty="0"/>
          </a:p>
        </p:txBody>
      </p:sp>
      <p:sp>
        <p:nvSpPr>
          <p:cNvPr id="48" name="step1_d"/>
          <p:cNvSpPr txBox="1"/>
          <p:nvPr/>
        </p:nvSpPr>
        <p:spPr>
          <a:xfrm>
            <a:off x="5532120" y="2953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regresie convexă în PyTorch, 0 rulări</a:t>
            </a:r>
            <a:endParaRPr lang="en-US" sz="1300" dirty="0"/>
          </a:p>
        </p:txBody>
      </p:sp>
      <p:sp>
        <p:nvSpPr>
          <p:cNvPr id="49" name="step2_card"/>
          <p:cNvSpPr/>
          <p:nvPr/>
        </p:nvSpPr>
        <p:spPr>
          <a:xfrm>
            <a:off x="4800600" y="3429000"/>
            <a:ext cx="3886200" cy="731520"/>
          </a:xfrm>
          <a:prstGeom prst="roundRect">
            <a:avLst>
              <a:gd name="adj" fmla="val 15000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50" name="step2_dot"/>
          <p:cNvSpPr/>
          <p:nvPr/>
        </p:nvSpPr>
        <p:spPr>
          <a:xfrm>
            <a:off x="4956048" y="3584448"/>
            <a:ext cx="420624" cy="420624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51" name="step2_num"/>
          <p:cNvSpPr txBox="1"/>
          <p:nvPr/>
        </p:nvSpPr>
        <p:spPr>
          <a:xfrm>
            <a:off x="4956048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step2_h"/>
          <p:cNvSpPr txBox="1"/>
          <p:nvPr/>
        </p:nvSpPr>
        <p:spPr>
          <a:xfrm>
            <a:off x="5532120" y="3520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Compilezi o dată</a:t>
            </a:r>
            <a:endParaRPr lang="en-US" sz="1600" dirty="0"/>
          </a:p>
        </p:txBody>
      </p:sp>
      <p:sp>
        <p:nvSpPr>
          <p:cNvPr id="53" name="step2_d"/>
          <p:cNvSpPr txBox="1"/>
          <p:nvPr/>
        </p:nvSpPr>
        <p:spPr>
          <a:xfrm>
            <a:off x="5532120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ponderile devin unghiurile porților</a:t>
            </a:r>
            <a:endParaRPr lang="en-US" sz="13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o fraudă reală, zgomot din ce în ce mai mare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de fraudă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278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219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161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</a:t>
            </a:r>
            <a:endParaRPr lang="en-US" sz="1100" dirty="0"/>
          </a:p>
        </p:txBody>
      </p:sp>
      <p:sp>
        <p:nvSpPr>
          <p:cNvPr id="7" name="col0_track"/>
          <p:cNvSpPr/>
          <p:nvPr/>
        </p:nvSpPr>
        <p:spPr>
          <a:xfrm>
            <a:off x="1325880" y="1325880"/>
            <a:ext cx="1005840" cy="2011680"/>
          </a:xfrm>
          <a:prstGeom prst="roundRect">
            <a:avLst>
              <a:gd name="adj" fmla="val 7273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8" name="col0_bar"/>
          <p:cNvSpPr/>
          <p:nvPr/>
        </p:nvSpPr>
        <p:spPr>
          <a:xfrm>
            <a:off x="1508760" y="2286960"/>
            <a:ext cx="640080" cy="1050600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9" name="col0_thr"/>
          <p:cNvSpPr/>
          <p:nvPr/>
        </p:nvSpPr>
        <p:spPr>
          <a:xfrm>
            <a:off x="1234440" y="2578151"/>
            <a:ext cx="1188720" cy="0"/>
          </a:xfrm>
          <a:prstGeom prst="line">
            <a:avLst/>
          </a:prstGeom>
          <a:noFill/>
          <a:ln w="31750">
            <a:solidFill>
              <a:srgbClr val="FF6B6B"/>
            </a:solidFill>
            <a:prstDash val="dash"/>
          </a:ln>
        </p:spPr>
      </p:sp>
      <p:sp>
        <p:nvSpPr>
          <p:cNvPr id="10" name="col0_sv"/>
          <p:cNvSpPr txBox="1"/>
          <p:nvPr/>
        </p:nvSpPr>
        <p:spPr>
          <a:xfrm>
            <a:off x="2468880" y="2012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0,509</a:t>
            </a:r>
            <a:endParaRPr lang="en-US" sz="1300" dirty="0"/>
          </a:p>
        </p:txBody>
      </p:sp>
      <p:sp>
        <p:nvSpPr>
          <p:cNvPr id="11" name="col0_tv"/>
          <p:cNvSpPr txBox="1"/>
          <p:nvPr/>
        </p:nvSpPr>
        <p:spPr>
          <a:xfrm>
            <a:off x="2468880" y="2596439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0,451</a:t>
            </a:r>
            <a:endParaRPr lang="en-US" sz="1300" dirty="0"/>
          </a:p>
        </p:txBody>
      </p:sp>
      <p:sp>
        <p:nvSpPr>
          <p:cNvPr id="12" name="col0_lab"/>
          <p:cNvSpPr txBox="1"/>
          <p:nvPr/>
        </p:nvSpPr>
        <p:spPr>
          <a:xfrm>
            <a:off x="1143000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zgomot</a:t>
            </a:r>
            <a:endParaRPr lang="en-US" sz="1400" dirty="0"/>
          </a:p>
        </p:txBody>
      </p:sp>
      <p:sp>
        <p:nvSpPr>
          <p:cNvPr id="13" name="col0_pill"/>
          <p:cNvSpPr/>
          <p:nvPr/>
        </p:nvSpPr>
        <p:spPr>
          <a:xfrm>
            <a:off x="1280160" y="37216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4" name="col0_pt"/>
          <p:cNvSpPr txBox="1"/>
          <p:nvPr/>
        </p:nvSpPr>
        <p:spPr>
          <a:xfrm>
            <a:off x="1280160" y="3721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FRAUDĂ</a:t>
            </a:r>
            <a:endParaRPr lang="en-US" sz="1300" dirty="0"/>
          </a:p>
        </p:txBody>
      </p:sp>
      <p:sp>
        <p:nvSpPr>
          <p:cNvPr id="15" name="col1_track"/>
          <p:cNvSpPr/>
          <p:nvPr/>
        </p:nvSpPr>
        <p:spPr>
          <a:xfrm>
            <a:off x="3840480" y="1325880"/>
            <a:ext cx="1005840" cy="2011680"/>
          </a:xfrm>
          <a:prstGeom prst="roundRect">
            <a:avLst>
              <a:gd name="adj" fmla="val 7273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16" name="col1_bar"/>
          <p:cNvSpPr/>
          <p:nvPr/>
        </p:nvSpPr>
        <p:spPr>
          <a:xfrm>
            <a:off x="4023360" y="2287966"/>
            <a:ext cx="640080" cy="1049594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17" name="col1_thr"/>
          <p:cNvSpPr/>
          <p:nvPr/>
        </p:nvSpPr>
        <p:spPr>
          <a:xfrm>
            <a:off x="3749040" y="2571613"/>
            <a:ext cx="1188720" cy="0"/>
          </a:xfrm>
          <a:prstGeom prst="line">
            <a:avLst/>
          </a:prstGeom>
          <a:noFill/>
          <a:ln w="31750">
            <a:solidFill>
              <a:srgbClr val="FF6B6B"/>
            </a:solidFill>
            <a:prstDash val="dash"/>
          </a:ln>
        </p:spPr>
      </p:sp>
      <p:sp>
        <p:nvSpPr>
          <p:cNvPr id="18" name="col1_sv"/>
          <p:cNvSpPr txBox="1"/>
          <p:nvPr/>
        </p:nvSpPr>
        <p:spPr>
          <a:xfrm>
            <a:off x="4983480" y="201364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0,509</a:t>
            </a:r>
            <a:endParaRPr lang="en-US" sz="1300" dirty="0"/>
          </a:p>
        </p:txBody>
      </p:sp>
      <p:sp>
        <p:nvSpPr>
          <p:cNvPr id="19" name="col1_tv"/>
          <p:cNvSpPr txBox="1"/>
          <p:nvPr/>
        </p:nvSpPr>
        <p:spPr>
          <a:xfrm>
            <a:off x="4983480" y="2589901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0,452</a:t>
            </a:r>
            <a:endParaRPr lang="en-US" sz="1300" dirty="0"/>
          </a:p>
        </p:txBody>
      </p:sp>
      <p:sp>
        <p:nvSpPr>
          <p:cNvPr id="20" name="col1_lab"/>
          <p:cNvSpPr txBox="1"/>
          <p:nvPr/>
        </p:nvSpPr>
        <p:spPr>
          <a:xfrm>
            <a:off x="3657600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zgomot 1%</a:t>
            </a:r>
            <a:endParaRPr lang="en-US" sz="1400" dirty="0"/>
          </a:p>
        </p:txBody>
      </p:sp>
      <p:sp>
        <p:nvSpPr>
          <p:cNvPr id="21" name="col1_pill"/>
          <p:cNvSpPr/>
          <p:nvPr/>
        </p:nvSpPr>
        <p:spPr>
          <a:xfrm>
            <a:off x="3794760" y="37216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2" name="col1_pt"/>
          <p:cNvSpPr txBox="1"/>
          <p:nvPr/>
        </p:nvSpPr>
        <p:spPr>
          <a:xfrm>
            <a:off x="3794760" y="3721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FRAUDĂ</a:t>
            </a:r>
            <a:endParaRPr lang="en-US" sz="1300" dirty="0"/>
          </a:p>
        </p:txBody>
      </p:sp>
      <p:sp>
        <p:nvSpPr>
          <p:cNvPr id="23" name="col2_track"/>
          <p:cNvSpPr/>
          <p:nvPr/>
        </p:nvSpPr>
        <p:spPr>
          <a:xfrm>
            <a:off x="6355080" y="1325880"/>
            <a:ext cx="1005840" cy="2011680"/>
          </a:xfrm>
          <a:prstGeom prst="roundRect">
            <a:avLst>
              <a:gd name="adj" fmla="val 7273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24" name="col2_bar"/>
          <p:cNvSpPr/>
          <p:nvPr/>
        </p:nvSpPr>
        <p:spPr>
          <a:xfrm>
            <a:off x="6537960" y="2292995"/>
            <a:ext cx="640080" cy="1044565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25" name="col2_thr"/>
          <p:cNvSpPr/>
          <p:nvPr/>
        </p:nvSpPr>
        <p:spPr>
          <a:xfrm>
            <a:off x="6263640" y="2546467"/>
            <a:ext cx="1188720" cy="0"/>
          </a:xfrm>
          <a:prstGeom prst="line">
            <a:avLst/>
          </a:prstGeom>
          <a:noFill/>
          <a:ln w="31750">
            <a:solidFill>
              <a:srgbClr val="FF6B6B"/>
            </a:solidFill>
            <a:prstDash val="dash"/>
          </a:ln>
        </p:spPr>
      </p:sp>
      <p:sp>
        <p:nvSpPr>
          <p:cNvPr id="26" name="col2_sv"/>
          <p:cNvSpPr txBox="1"/>
          <p:nvPr/>
        </p:nvSpPr>
        <p:spPr>
          <a:xfrm>
            <a:off x="7498080" y="2018675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0,508</a:t>
            </a:r>
            <a:endParaRPr lang="en-US" sz="1300" dirty="0"/>
          </a:p>
        </p:txBody>
      </p:sp>
      <p:sp>
        <p:nvSpPr>
          <p:cNvPr id="27" name="col2_tv"/>
          <p:cNvSpPr txBox="1"/>
          <p:nvPr/>
        </p:nvSpPr>
        <p:spPr>
          <a:xfrm>
            <a:off x="7498080" y="2564755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0,457</a:t>
            </a:r>
            <a:endParaRPr lang="en-US" sz="1300" dirty="0"/>
          </a:p>
        </p:txBody>
      </p:sp>
      <p:sp>
        <p:nvSpPr>
          <p:cNvPr id="28" name="col2_lab"/>
          <p:cNvSpPr txBox="1"/>
          <p:nvPr/>
        </p:nvSpPr>
        <p:spPr>
          <a:xfrm>
            <a:off x="6172200" y="34107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zgomot 5%</a:t>
            </a:r>
            <a:endParaRPr lang="en-US" sz="1400" dirty="0"/>
          </a:p>
        </p:txBody>
      </p:sp>
      <p:sp>
        <p:nvSpPr>
          <p:cNvPr id="29" name="col2_pill"/>
          <p:cNvSpPr/>
          <p:nvPr/>
        </p:nvSpPr>
        <p:spPr>
          <a:xfrm>
            <a:off x="6309360" y="37216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30" name="col2_pt"/>
          <p:cNvSpPr txBox="1"/>
          <p:nvPr/>
        </p:nvSpPr>
        <p:spPr>
          <a:xfrm>
            <a:off x="6309360" y="37216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FRAUDĂ</a:t>
            </a:r>
            <a:endParaRPr lang="en-US" sz="1300" dirty="0"/>
          </a:p>
        </p:txBody>
      </p:sp>
      <p:sp>
        <p:nvSpPr>
          <p:cNvPr id="31" name="law_bg"/>
          <p:cNvSpPr/>
          <p:nvPr/>
        </p:nvSpPr>
        <p:spPr>
          <a:xfrm>
            <a:off x="457200" y="4206240"/>
            <a:ext cx="8229600" cy="384048"/>
          </a:xfrm>
          <a:prstGeom prst="roundRect">
            <a:avLst>
              <a:gd name="adj" fmla="val 23810"/>
            </a:avLst>
          </a:prstGeom>
          <a:solidFill>
            <a:srgbClr val="22264A"/>
          </a:solidFill>
          <a:ln w="12700">
            <a:solidFill>
              <a:srgbClr val="22264A"/>
            </a:solidFill>
            <a:prstDash val="solid"/>
          </a:ln>
        </p:spPr>
      </p:sp>
      <p:sp>
        <p:nvSpPr>
          <p:cNvPr id="32" name="law_txt"/>
          <p:cNvSpPr txBox="1"/>
          <p:nvPr/>
        </p:nvSpPr>
        <p:spPr>
          <a:xfrm>
            <a:off x="640080" y="42062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Teorema:  </a:t>
            </a:r>
            <a:r>
              <a:rPr lang="en-US" sz="14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zgomotul împinge scorul și pragul spre 0,5 cu același factor, deci clasamentul nu se schimbă.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7773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440 de ori mai </a:t>
            </a:r>
            <a:r>
              <a:rPr lang="en-US" sz="2800" b="1" dirty="0" err="1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ieftin</a:t>
            </a:r>
            <a:r>
              <a:rPr lang="en-US" sz="28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cu </a:t>
            </a:r>
            <a:r>
              <a:rPr lang="en-US" sz="2800" b="1" dirty="0" err="1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</a:t>
            </a:r>
            <a:r>
              <a:rPr lang="ro-RO" sz="2800" b="1" dirty="0" err="1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ță</a:t>
            </a:r>
            <a:r>
              <a:rPr lang="ro-RO" sz="28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zgomot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005840"/>
          <a:ext cx="4572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0_card"/>
          <p:cNvSpPr/>
          <p:nvPr/>
        </p:nvSpPr>
        <p:spPr>
          <a:xfrm>
            <a:off x="5212080" y="1051560"/>
            <a:ext cx="3474720" cy="896112"/>
          </a:xfrm>
          <a:prstGeom prst="roundRect">
            <a:avLst>
              <a:gd name="adj" fmla="val 12245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5" name="stat0_big"/>
          <p:cNvSpPr txBox="1"/>
          <p:nvPr/>
        </p:nvSpPr>
        <p:spPr>
          <a:xfrm>
            <a:off x="544068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−99,77%</a:t>
            </a:r>
            <a:endParaRPr lang="en-US" sz="3000" dirty="0"/>
          </a:p>
        </p:txBody>
      </p:sp>
      <p:sp>
        <p:nvSpPr>
          <p:cNvPr id="6" name="stat0_lbl"/>
          <p:cNvSpPr txBox="1"/>
          <p:nvPr/>
        </p:nvSpPr>
        <p:spPr>
          <a:xfrm>
            <a:off x="5440680" y="1600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rulări la antrenare: 6.490 în loc de 2.859.360</a:t>
            </a:r>
            <a:endParaRPr lang="en-US" sz="1250" dirty="0"/>
          </a:p>
        </p:txBody>
      </p:sp>
      <p:sp>
        <p:nvSpPr>
          <p:cNvPr id="7" name="stat1_card"/>
          <p:cNvSpPr/>
          <p:nvPr/>
        </p:nvSpPr>
        <p:spPr>
          <a:xfrm>
            <a:off x="5212080" y="2075688"/>
            <a:ext cx="3474720" cy="896112"/>
          </a:xfrm>
          <a:prstGeom prst="roundRect">
            <a:avLst>
              <a:gd name="adj" fmla="val 12245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8" name="stat1_big"/>
          <p:cNvSpPr txBox="1"/>
          <p:nvPr/>
        </p:nvSpPr>
        <p:spPr>
          <a:xfrm>
            <a:off x="544068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0,716</a:t>
            </a:r>
            <a:endParaRPr lang="en-US" sz="3000" dirty="0"/>
          </a:p>
        </p:txBody>
      </p:sp>
      <p:sp>
        <p:nvSpPr>
          <p:cNvPr id="9" name="stat1_lbl"/>
          <p:cNvSpPr txBox="1"/>
          <p:nvPr/>
        </p:nvSpPr>
        <p:spPr>
          <a:xfrm>
            <a:off x="5440680" y="2624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la orice zgomot (standard: 0,405 la 5%)</a:t>
            </a:r>
            <a:endParaRPr lang="en-US" sz="1250" dirty="0"/>
          </a:p>
        </p:txBody>
      </p:sp>
      <p:sp>
        <p:nvSpPr>
          <p:cNvPr id="10" name="stat2_card"/>
          <p:cNvSpPr/>
          <p:nvPr/>
        </p:nvSpPr>
        <p:spPr>
          <a:xfrm>
            <a:off x="5212080" y="3099816"/>
            <a:ext cx="3474720" cy="896112"/>
          </a:xfrm>
          <a:prstGeom prst="roundRect">
            <a:avLst>
              <a:gd name="adj" fmla="val 12245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11" name="stat2_big"/>
          <p:cNvSpPr txBox="1"/>
          <p:nvPr/>
        </p:nvSpPr>
        <p:spPr>
          <a:xfrm>
            <a:off x="5440680" y="31912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3000" dirty="0"/>
          </a:p>
        </p:txBody>
      </p:sp>
      <p:sp>
        <p:nvSpPr>
          <p:cNvPr id="12" name="stat2_lbl"/>
          <p:cNvSpPr txBox="1"/>
          <p:nvPr/>
        </p:nvSpPr>
        <p:spPr>
          <a:xfrm>
            <a:off x="5440680" y="36484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shot-uri în loc de 1.024, la același F1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41148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din 98 de fraude prinse, cu 23 de alarme false la 57.000 de tranzacții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 idei noi, un singur rezultat</a:t>
            </a:r>
            <a:endParaRPr lang="en-US" sz="2800" dirty="0"/>
          </a:p>
        </p:txBody>
      </p:sp>
      <p:sp>
        <p:nvSpPr>
          <p:cNvPr id="3" name="inno0_card"/>
          <p:cNvSpPr/>
          <p:nvPr/>
        </p:nvSpPr>
        <p:spPr>
          <a:xfrm>
            <a:off x="457200" y="1051560"/>
            <a:ext cx="4480560" cy="713232"/>
          </a:xfrm>
          <a:prstGeom prst="roundRect">
            <a:avLst>
              <a:gd name="adj" fmla="val 15385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4" name="inno0_dot"/>
          <p:cNvSpPr/>
          <p:nvPr/>
        </p:nvSpPr>
        <p:spPr>
          <a:xfrm>
            <a:off x="621792" y="1179576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pic>
        <p:nvPicPr>
          <p:cNvPr id="5" name="inno0_ic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9304"/>
            <a:ext cx="237744" cy="237744"/>
          </a:xfrm>
          <a:prstGeom prst="rect">
            <a:avLst/>
          </a:prstGeom>
        </p:spPr>
      </p:pic>
      <p:sp>
        <p:nvSpPr>
          <p:cNvPr id="6" name="inno0_h"/>
          <p:cNvSpPr txBox="1"/>
          <p:nvPr/>
        </p:nvSpPr>
        <p:spPr>
          <a:xfrm>
            <a:off x="1261872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Antrenare fără circuit în buclă</a:t>
            </a:r>
            <a:endParaRPr lang="en-US" sz="1600" dirty="0"/>
          </a:p>
        </p:txBody>
      </p:sp>
      <p:sp>
        <p:nvSpPr>
          <p:cNvPr id="7" name="inno0_d"/>
          <p:cNvSpPr txBox="1"/>
          <p:nvPr/>
        </p:nvSpPr>
        <p:spPr>
          <a:xfrm>
            <a:off x="1261872" y="1444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rulări pe tranzacție, apoi învățare convexă</a:t>
            </a:r>
            <a:endParaRPr lang="en-US" sz="1300" dirty="0"/>
          </a:p>
        </p:txBody>
      </p:sp>
      <p:sp>
        <p:nvSpPr>
          <p:cNvPr id="8" name="inno1_card"/>
          <p:cNvSpPr/>
          <p:nvPr/>
        </p:nvSpPr>
        <p:spPr>
          <a:xfrm>
            <a:off x="457200" y="1892808"/>
            <a:ext cx="4480560" cy="713232"/>
          </a:xfrm>
          <a:prstGeom prst="roundRect">
            <a:avLst>
              <a:gd name="adj" fmla="val 15385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9" name="inno1_dot"/>
          <p:cNvSpPr/>
          <p:nvPr/>
        </p:nvSpPr>
        <p:spPr>
          <a:xfrm>
            <a:off x="621792" y="2020824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pic>
        <p:nvPicPr>
          <p:cNvPr id="10" name="inno1_ic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30552"/>
            <a:ext cx="237744" cy="237744"/>
          </a:xfrm>
          <a:prstGeom prst="rect">
            <a:avLst/>
          </a:prstGeom>
        </p:spPr>
      </p:pic>
      <p:sp>
        <p:nvSpPr>
          <p:cNvPr id="11" name="inno1_h"/>
          <p:cNvSpPr txBox="1"/>
          <p:nvPr/>
        </p:nvSpPr>
        <p:spPr>
          <a:xfrm>
            <a:off x="1261872" y="19842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Garanție matematică la zgomot</a:t>
            </a:r>
            <a:endParaRPr lang="en-US" sz="1600" dirty="0"/>
          </a:p>
        </p:txBody>
      </p:sp>
      <p:sp>
        <p:nvSpPr>
          <p:cNvPr id="12" name="inno1_d"/>
          <p:cNvSpPr txBox="1"/>
          <p:nvPr/>
        </p:nvSpPr>
        <p:spPr>
          <a:xfrm>
            <a:off x="1261872" y="2286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zgomotul doar scalează, clasamentul rămâne</a:t>
            </a:r>
            <a:endParaRPr lang="en-US" sz="1300" dirty="0"/>
          </a:p>
        </p:txBody>
      </p:sp>
      <p:sp>
        <p:nvSpPr>
          <p:cNvPr id="13" name="inno2_card"/>
          <p:cNvSpPr/>
          <p:nvPr/>
        </p:nvSpPr>
        <p:spPr>
          <a:xfrm>
            <a:off x="457200" y="2734056"/>
            <a:ext cx="4480560" cy="713232"/>
          </a:xfrm>
          <a:prstGeom prst="roundRect">
            <a:avLst>
              <a:gd name="adj" fmla="val 15385"/>
            </a:avLst>
          </a:prstGeom>
          <a:solidFill>
            <a:srgbClr val="171A2E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14" name="inno2_dot"/>
          <p:cNvSpPr/>
          <p:nvPr/>
        </p:nvSpPr>
        <p:spPr>
          <a:xfrm>
            <a:off x="621792" y="2862072"/>
            <a:ext cx="457200" cy="457200"/>
          </a:xfrm>
          <a:prstGeom prst="ellipse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pic>
        <p:nvPicPr>
          <p:cNvPr id="15" name="inno2_ic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71800"/>
            <a:ext cx="237744" cy="237744"/>
          </a:xfrm>
          <a:prstGeom prst="rect">
            <a:avLst/>
          </a:prstGeom>
        </p:spPr>
      </p:pic>
      <p:sp>
        <p:nvSpPr>
          <p:cNvPr id="16" name="inno2_h"/>
          <p:cNvSpPr txBox="1"/>
          <p:nvPr/>
        </p:nvSpPr>
        <p:spPr>
          <a:xfrm>
            <a:off x="1261872" y="2825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Shot-uri doar unde trebuie</a:t>
            </a:r>
            <a:endParaRPr lang="en-US" sz="1600" dirty="0"/>
          </a:p>
        </p:txBody>
      </p:sp>
      <p:sp>
        <p:nvSpPr>
          <p:cNvPr id="17" name="inno2_d"/>
          <p:cNvSpPr txBox="1"/>
          <p:nvPr/>
        </p:nvSpPr>
        <p:spPr>
          <a:xfrm>
            <a:off x="1261872" y="3127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 adaptiv cu garanție statistică</a:t>
            </a:r>
            <a:endParaRPr lang="en-US" sz="1300" dirty="0"/>
          </a:p>
        </p:txBody>
      </p:sp>
      <p:sp>
        <p:nvSpPr>
          <p:cNvPr id="18" name="end_card"/>
          <p:cNvSpPr/>
          <p:nvPr/>
        </p:nvSpPr>
        <p:spPr>
          <a:xfrm>
            <a:off x="5212080" y="1051560"/>
            <a:ext cx="3474720" cy="2395728"/>
          </a:xfrm>
          <a:prstGeom prst="roundRect">
            <a:avLst>
              <a:gd name="adj" fmla="val 4580"/>
            </a:avLst>
          </a:prstGeom>
          <a:solidFill>
            <a:srgbClr val="22264A"/>
          </a:solidFill>
          <a:ln w="12700">
            <a:solidFill>
              <a:srgbClr val="171A2E"/>
            </a:solidFill>
            <a:prstDash val="solid"/>
          </a:ln>
        </p:spPr>
      </p:sp>
      <p:sp>
        <p:nvSpPr>
          <p:cNvPr id="19" name="end_txt"/>
          <p:cNvSpPr txBox="1"/>
          <p:nvPr/>
        </p:nvSpPr>
        <p:spPr>
          <a:xfrm>
            <a:off x="5440680" y="128016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Măsori o dată.</a:t>
            </a:r>
            <a:endParaRPr lang="en-US" sz="2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Compilezi o dată.</a:t>
            </a:r>
            <a:endParaRPr lang="en-US" sz="2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FFB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Zgomotul doar scalează.</a:t>
            </a:r>
            <a:endParaRPr lang="en-US" sz="2100" dirty="0"/>
          </a:p>
        </p:txBody>
      </p:sp>
      <p:sp>
        <p:nvSpPr>
          <p:cNvPr id="20" name="end_sub"/>
          <p:cNvSpPr txBox="1"/>
          <p:nvPr/>
        </p:nvSpPr>
        <p:spPr>
          <a:xfrm>
            <a:off x="5440680" y="2788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−99,77% rulări  ·  AUPRC 0,716 la orice zgomot</a:t>
            </a:r>
            <a:endParaRPr lang="en-US" sz="1300" dirty="0"/>
          </a:p>
        </p:txBody>
      </p:sp>
      <p:sp>
        <p:nvSpPr>
          <p:cNvPr id="21" name="close_honest"/>
          <p:cNvSpPr txBox="1"/>
          <p:nvPr/>
        </p:nvSpPr>
        <p:spPr>
          <a:xfrm>
            <a:off x="45720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3A8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pretindem avantaj cuantic: egalăm regresia logistică pe aceleași intrări, cu garanție la zgomot.</a:t>
            </a:r>
            <a:endParaRPr lang="en-US" sz="1300" dirty="0"/>
          </a:p>
        </p:txBody>
      </p:sp>
      <p:sp>
        <p:nvSpPr>
          <p:cNvPr id="22" name="close_thanks"/>
          <p:cNvSpPr txBox="1"/>
          <p:nvPr/>
        </p:nvSpPr>
        <p:spPr>
          <a:xfrm>
            <a:off x="457200" y="41879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 mulțumim!</a:t>
            </a:r>
            <a:r>
              <a:rPr lang="en-US" sz="1600" dirty="0">
                <a:solidFill>
                  <a:srgbClr val="C4B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github.com/WEX75/breaq-2026</a:t>
            </a:r>
            <a:endParaRPr lang="en-US" sz="1600" dirty="0"/>
          </a:p>
        </p:txBody>
      </p:sp>
      <p:sp>
        <p:nvSpPr>
          <p:cNvPr id="23" name="close_qrbg"/>
          <p:cNvSpPr/>
          <p:nvPr/>
        </p:nvSpPr>
        <p:spPr>
          <a:xfrm>
            <a:off x="7635240" y="3611880"/>
            <a:ext cx="1051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close_qr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365760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3A8C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1292</Words>
  <Application>Microsoft Office PowerPoint</Application>
  <PresentationFormat>On-screen Show (16:9)</PresentationFormat>
  <Paragraphs>118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MOCO: Measure Once, Compile Once</dc:title>
  <dc:subject>PptxGenJS Presentation</dc:subject>
  <dc:creator>Darius Tatomir, Deliu Georgiana</dc:creator>
  <cp:lastModifiedBy>GEORGIANA DELIU</cp:lastModifiedBy>
  <cp:revision>2</cp:revision>
  <dcterms:created xsi:type="dcterms:W3CDTF">2026-10-25T05:10:02Z</dcterms:created>
  <dcterms:modified xsi:type="dcterms:W3CDTF">2026-10-25T05:40:05Z</dcterms:modified>
</cp:coreProperties>
</file>